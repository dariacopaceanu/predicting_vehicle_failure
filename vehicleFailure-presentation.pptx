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Montaser Arabic Bold" charset="1" panose="00000800000000000000"/>
      <p:regular r:id="rId14"/>
    </p:embeddedFont>
    <p:embeddedFont>
      <p:font typeface="Montaser Arabic" charset="1" panose="000005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27202" y="-1232117"/>
            <a:ext cx="7708068" cy="6131700"/>
          </a:xfrm>
          <a:custGeom>
            <a:avLst/>
            <a:gdLst/>
            <a:ahLst/>
            <a:cxnLst/>
            <a:rect r="r" b="b" t="t" l="l"/>
            <a:pathLst>
              <a:path h="6131700" w="7708068">
                <a:moveTo>
                  <a:pt x="0" y="0"/>
                </a:moveTo>
                <a:lnTo>
                  <a:pt x="7708068" y="0"/>
                </a:lnTo>
                <a:lnTo>
                  <a:pt x="7708068" y="6131700"/>
                </a:lnTo>
                <a:lnTo>
                  <a:pt x="0" y="6131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37305" y="3187714"/>
            <a:ext cx="13850695" cy="4035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3"/>
              </a:lnSpc>
            </a:pPr>
            <a:r>
              <a:rPr lang="en-US" sz="9825" b="true">
                <a:solidFill>
                  <a:srgbClr val="044BD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Predicting Vechicle Failure From Sensor Data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3412" y="8778772"/>
            <a:ext cx="8862560" cy="1016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1"/>
              </a:lnSpc>
            </a:pPr>
            <a:r>
              <a:rPr lang="en-US" sz="3730">
                <a:solidFill>
                  <a:srgbClr val="044BD4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Delia Musat</a:t>
            </a:r>
          </a:p>
          <a:p>
            <a:pPr algn="l">
              <a:lnSpc>
                <a:spcPts val="3991"/>
              </a:lnSpc>
            </a:pPr>
            <a:r>
              <a:rPr lang="en-US" sz="3730">
                <a:solidFill>
                  <a:srgbClr val="044BD4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Daria Copaceanu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2992565">
            <a:off x="12088577" y="7777122"/>
            <a:ext cx="7708068" cy="6131700"/>
          </a:xfrm>
          <a:custGeom>
            <a:avLst/>
            <a:gdLst/>
            <a:ahLst/>
            <a:cxnLst/>
            <a:rect r="r" b="b" t="t" l="l"/>
            <a:pathLst>
              <a:path h="6131700" w="7708068">
                <a:moveTo>
                  <a:pt x="0" y="0"/>
                </a:moveTo>
                <a:lnTo>
                  <a:pt x="7708068" y="0"/>
                </a:lnTo>
                <a:lnTo>
                  <a:pt x="7708068" y="6131700"/>
                </a:lnTo>
                <a:lnTo>
                  <a:pt x="0" y="6131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437305" y="7391977"/>
            <a:ext cx="16095021" cy="469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25"/>
              </a:lnSpc>
            </a:pPr>
            <a:r>
              <a:rPr lang="en-US" sz="2732">
                <a:solidFill>
                  <a:srgbClr val="044BD4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Machine Le</a:t>
            </a:r>
            <a:r>
              <a:rPr lang="en-US" sz="2732">
                <a:solidFill>
                  <a:srgbClr val="044BD4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arning approach for predicting remaining distance before failure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90374" y="-1036531"/>
            <a:ext cx="9938455" cy="6808169"/>
          </a:xfrm>
          <a:custGeom>
            <a:avLst/>
            <a:gdLst/>
            <a:ahLst/>
            <a:cxnLst/>
            <a:rect r="r" b="b" t="t" l="l"/>
            <a:pathLst>
              <a:path h="6808169" w="9938455">
                <a:moveTo>
                  <a:pt x="0" y="0"/>
                </a:moveTo>
                <a:lnTo>
                  <a:pt x="9938456" y="0"/>
                </a:lnTo>
                <a:lnTo>
                  <a:pt x="9938456" y="6808169"/>
                </a:lnTo>
                <a:lnTo>
                  <a:pt x="0" y="68081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690374" y="3385652"/>
            <a:ext cx="5484094" cy="548409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25046" t="0" r="-25046" b="0"/>
              </a:stretch>
            </a:blipFill>
            <a:ln w="38100" cap="sq">
              <a:solidFill>
                <a:srgbClr val="044BD4"/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2151419"/>
            <a:ext cx="11231066" cy="1021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53"/>
              </a:lnSpc>
            </a:pPr>
            <a:r>
              <a:rPr lang="en-US" sz="7339" b="true">
                <a:solidFill>
                  <a:srgbClr val="044BD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The problem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04324" y="4351285"/>
            <a:ext cx="9451217" cy="177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79"/>
              </a:lnSpc>
            </a:pPr>
            <a:r>
              <a:rPr lang="en-US" sz="3414">
                <a:solidFill>
                  <a:srgbClr val="044BD4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Can vehicle sensor me</a:t>
            </a:r>
            <a:r>
              <a:rPr lang="en-US" sz="3414">
                <a:solidFill>
                  <a:srgbClr val="044BD4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asurements be used to predict how many kilometers remain before a vehicle failure?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006417">
            <a:off x="-4417264" y="4936285"/>
            <a:ext cx="9938455" cy="6808169"/>
          </a:xfrm>
          <a:custGeom>
            <a:avLst/>
            <a:gdLst/>
            <a:ahLst/>
            <a:cxnLst/>
            <a:rect r="r" b="b" t="t" l="l"/>
            <a:pathLst>
              <a:path h="6808169" w="9938455">
                <a:moveTo>
                  <a:pt x="0" y="0"/>
                </a:moveTo>
                <a:lnTo>
                  <a:pt x="9938455" y="0"/>
                </a:lnTo>
                <a:lnTo>
                  <a:pt x="9938455" y="6808169"/>
                </a:lnTo>
                <a:lnTo>
                  <a:pt x="0" y="68081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0666529" y="505784"/>
            <a:ext cx="5283403" cy="5246370"/>
            <a:chOff x="0" y="0"/>
            <a:chExt cx="10871200" cy="1079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47853" y="239712"/>
              <a:ext cx="10427221" cy="10291864"/>
            </a:xfrm>
            <a:custGeom>
              <a:avLst/>
              <a:gdLst/>
              <a:ahLst/>
              <a:cxnLst/>
              <a:rect r="r" b="b" t="t" l="l"/>
              <a:pathLst>
                <a:path h="10291864" w="10427221">
                  <a:moveTo>
                    <a:pt x="10427221" y="10291865"/>
                  </a:moveTo>
                  <a:lnTo>
                    <a:pt x="96444" y="10291865"/>
                  </a:lnTo>
                  <a:lnTo>
                    <a:pt x="0" y="0"/>
                  </a:lnTo>
                  <a:lnTo>
                    <a:pt x="10330777" y="0"/>
                  </a:lnTo>
                  <a:lnTo>
                    <a:pt x="10427221" y="10291865"/>
                  </a:lnTo>
                  <a:close/>
                </a:path>
              </a:pathLst>
            </a:custGeom>
            <a:blipFill>
              <a:blip r:embed="rId3"/>
              <a:stretch>
                <a:fillRect l="-43983" t="0" r="-43983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871200" cy="10795000"/>
            </a:xfrm>
            <a:custGeom>
              <a:avLst/>
              <a:gdLst/>
              <a:ahLst/>
              <a:cxnLst/>
              <a:rect r="r" b="b" t="t" l="l"/>
              <a:pathLst>
                <a:path h="10795000" w="10871200">
                  <a:moveTo>
                    <a:pt x="0" y="0"/>
                  </a:moveTo>
                  <a:lnTo>
                    <a:pt x="10871200" y="0"/>
                  </a:lnTo>
                  <a:lnTo>
                    <a:pt x="10871200" y="10795000"/>
                  </a:lnTo>
                  <a:lnTo>
                    <a:pt x="0" y="10795000"/>
                  </a:lnTo>
                  <a:close/>
                </a:path>
              </a:pathLst>
            </a:custGeom>
            <a:blipFill>
              <a:blip r:embed="rId4"/>
              <a:stretch>
                <a:fillRect l="-105" t="0" r="-105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551964" y="1123950"/>
            <a:ext cx="11231066" cy="1021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53"/>
              </a:lnSpc>
            </a:pPr>
            <a:r>
              <a:rPr lang="en-US" sz="7339" b="true">
                <a:solidFill>
                  <a:srgbClr val="044BD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Dataset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33274" y="2185311"/>
            <a:ext cx="9115658" cy="404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09"/>
              </a:lnSpc>
            </a:pPr>
            <a:r>
              <a:rPr lang="en-US" sz="3292">
                <a:solidFill>
                  <a:srgbClr val="044BD4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Total features: 16</a:t>
            </a:r>
          </a:p>
          <a:p>
            <a:pPr algn="just">
              <a:lnSpc>
                <a:spcPts val="4609"/>
              </a:lnSpc>
            </a:pPr>
            <a:r>
              <a:rPr lang="en-US" sz="3292">
                <a:solidFill>
                  <a:srgbClr val="044BD4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Samples: 12000</a:t>
            </a:r>
          </a:p>
          <a:p>
            <a:pPr algn="just">
              <a:lnSpc>
                <a:spcPts val="4609"/>
              </a:lnSpc>
            </a:pPr>
            <a:r>
              <a:rPr lang="en-US" sz="3292">
                <a:solidFill>
                  <a:srgbClr val="044BD4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Features used: 7(first try)</a:t>
            </a:r>
          </a:p>
          <a:p>
            <a:pPr algn="just">
              <a:lnSpc>
                <a:spcPts val="4609"/>
              </a:lnSpc>
            </a:pPr>
            <a:r>
              <a:rPr lang="en-US" sz="3292">
                <a:solidFill>
                  <a:srgbClr val="044BD4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                           16(last try)</a:t>
            </a:r>
          </a:p>
          <a:p>
            <a:pPr algn="just">
              <a:lnSpc>
                <a:spcPts val="4609"/>
              </a:lnSpc>
            </a:pPr>
            <a:r>
              <a:rPr lang="en-US" sz="3292">
                <a:solidFill>
                  <a:srgbClr val="044BD4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Target: km_before_defect</a:t>
            </a:r>
          </a:p>
          <a:p>
            <a:pPr algn="just">
              <a:lnSpc>
                <a:spcPts val="4609"/>
              </a:lnSpc>
            </a:pPr>
          </a:p>
          <a:p>
            <a:pPr algn="just">
              <a:lnSpc>
                <a:spcPts val="460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5829479" y="6726815"/>
            <a:ext cx="13695631" cy="692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6"/>
              </a:lnSpc>
            </a:pPr>
            <a:r>
              <a:rPr lang="en-US" sz="5015" b="true">
                <a:solidFill>
                  <a:srgbClr val="044BD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Machine Learning Task: Classification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91103" y="7789520"/>
            <a:ext cx="11323720" cy="1044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24"/>
              </a:lnSpc>
            </a:pPr>
            <a:r>
              <a:rPr lang="en-US" sz="3017">
                <a:solidFill>
                  <a:srgbClr val="044BD4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Predict a continuous value: kilometers remaining before vehicle failure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4627" y="2922700"/>
            <a:ext cx="16978746" cy="5129244"/>
          </a:xfrm>
          <a:custGeom>
            <a:avLst/>
            <a:gdLst/>
            <a:ahLst/>
            <a:cxnLst/>
            <a:rect r="r" b="b" t="t" l="l"/>
            <a:pathLst>
              <a:path h="5129244" w="16978746">
                <a:moveTo>
                  <a:pt x="0" y="0"/>
                </a:moveTo>
                <a:lnTo>
                  <a:pt x="16978746" y="0"/>
                </a:lnTo>
                <a:lnTo>
                  <a:pt x="16978746" y="5129244"/>
                </a:lnTo>
                <a:lnTo>
                  <a:pt x="0" y="51292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29942" y="1437157"/>
            <a:ext cx="10271345" cy="94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82"/>
              </a:lnSpc>
            </a:pPr>
            <a:r>
              <a:rPr lang="en-US" sz="6712" b="true">
                <a:solidFill>
                  <a:srgbClr val="044BD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Methodology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65947" y="3636472"/>
            <a:ext cx="2091673" cy="592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76"/>
              </a:lnSpc>
            </a:pPr>
            <a:r>
              <a:rPr lang="en-US" sz="3483">
                <a:solidFill>
                  <a:srgbClr val="044BD4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Dataset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267320" y="3615940"/>
            <a:ext cx="11323720" cy="612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64"/>
              </a:lnSpc>
            </a:pPr>
            <a:r>
              <a:rPr lang="en-US" sz="3617">
                <a:solidFill>
                  <a:srgbClr val="044BD4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Data Cleaning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732339" y="3464585"/>
            <a:ext cx="2779851" cy="934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95"/>
              </a:lnSpc>
            </a:pPr>
            <a:r>
              <a:rPr lang="en-US" sz="2710">
                <a:solidFill>
                  <a:srgbClr val="044BD4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Exploratory Data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923242" y="3410990"/>
            <a:ext cx="3710131" cy="103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72"/>
              </a:lnSpc>
            </a:pPr>
            <a:r>
              <a:rPr lang="en-US" sz="2980">
                <a:solidFill>
                  <a:srgbClr val="044BD4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Feature engineering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49169" y="6496094"/>
            <a:ext cx="3710131" cy="554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92"/>
              </a:lnSpc>
            </a:pPr>
            <a:r>
              <a:rPr lang="en-US" sz="3280">
                <a:solidFill>
                  <a:srgbClr val="044BD4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Train / Test Split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67199" y="6519590"/>
            <a:ext cx="3710131" cy="531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12"/>
              </a:lnSpc>
            </a:pPr>
            <a:r>
              <a:rPr lang="en-US" sz="3080">
                <a:solidFill>
                  <a:srgbClr val="044BD4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Regresion Models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668516" y="6477044"/>
            <a:ext cx="4449016" cy="615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02"/>
              </a:lnSpc>
            </a:pPr>
            <a:r>
              <a:rPr lang="en-US" sz="3573">
                <a:solidFill>
                  <a:srgbClr val="044BD4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Evaluation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9942" y="6546836"/>
            <a:ext cx="4030462" cy="56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72"/>
              </a:lnSpc>
            </a:pPr>
            <a:r>
              <a:rPr lang="en-US" sz="3337">
                <a:solidFill>
                  <a:srgbClr val="044BD4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Best Model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2473" y="2572532"/>
            <a:ext cx="5294555" cy="2570968"/>
          </a:xfrm>
          <a:custGeom>
            <a:avLst/>
            <a:gdLst/>
            <a:ahLst/>
            <a:cxnLst/>
            <a:rect r="r" b="b" t="t" l="l"/>
            <a:pathLst>
              <a:path h="2570968" w="5294555">
                <a:moveTo>
                  <a:pt x="0" y="0"/>
                </a:moveTo>
                <a:lnTo>
                  <a:pt x="5294555" y="0"/>
                </a:lnTo>
                <a:lnTo>
                  <a:pt x="5294555" y="2570968"/>
                </a:lnTo>
                <a:lnTo>
                  <a:pt x="0" y="25709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73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4098" y="6021714"/>
            <a:ext cx="4767337" cy="3614237"/>
          </a:xfrm>
          <a:custGeom>
            <a:avLst/>
            <a:gdLst/>
            <a:ahLst/>
            <a:cxnLst/>
            <a:rect r="r" b="b" t="t" l="l"/>
            <a:pathLst>
              <a:path h="3614237" w="4767337">
                <a:moveTo>
                  <a:pt x="0" y="0"/>
                </a:moveTo>
                <a:lnTo>
                  <a:pt x="4767337" y="0"/>
                </a:lnTo>
                <a:lnTo>
                  <a:pt x="4767337" y="3614237"/>
                </a:lnTo>
                <a:lnTo>
                  <a:pt x="0" y="36142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52473" y="844262"/>
            <a:ext cx="14922949" cy="94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82"/>
              </a:lnSpc>
            </a:pPr>
            <a:r>
              <a:rPr lang="en-US" sz="6712" b="true">
                <a:solidFill>
                  <a:srgbClr val="044BD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Machine Learn</a:t>
            </a:r>
            <a:r>
              <a:rPr lang="en-US" sz="6712" b="true">
                <a:solidFill>
                  <a:srgbClr val="044BD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ing Methods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91103" y="7277984"/>
            <a:ext cx="11323720" cy="1044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24"/>
              </a:lnSpc>
            </a:pPr>
            <a:r>
              <a:rPr lang="en-US" sz="3017">
                <a:solidFill>
                  <a:srgbClr val="044BD4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Builds decision trees sequentially, with each new tree correcting errors made by previous trees.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68444" y="3307167"/>
            <a:ext cx="11323720" cy="1576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24"/>
              </a:lnSpc>
            </a:pPr>
            <a:r>
              <a:rPr lang="en-US" sz="3017">
                <a:solidFill>
                  <a:srgbClr val="044BD4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Finds a function that predicts the target while keeping prediction errors within an acceptable margin.</a:t>
            </a:r>
          </a:p>
          <a:p>
            <a:pPr algn="just">
              <a:lnSpc>
                <a:spcPts val="4224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8536" y="2018033"/>
            <a:ext cx="6323166" cy="7240267"/>
          </a:xfrm>
          <a:custGeom>
            <a:avLst/>
            <a:gdLst/>
            <a:ahLst/>
            <a:cxnLst/>
            <a:rect r="r" b="b" t="t" l="l"/>
            <a:pathLst>
              <a:path h="7240267" w="6323166">
                <a:moveTo>
                  <a:pt x="0" y="0"/>
                </a:moveTo>
                <a:lnTo>
                  <a:pt x="6323166" y="0"/>
                </a:lnTo>
                <a:lnTo>
                  <a:pt x="6323166" y="7240267"/>
                </a:lnTo>
                <a:lnTo>
                  <a:pt x="0" y="72402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266842">
            <a:off x="778991" y="-2415801"/>
            <a:ext cx="8057413" cy="6409600"/>
          </a:xfrm>
          <a:custGeom>
            <a:avLst/>
            <a:gdLst/>
            <a:ahLst/>
            <a:cxnLst/>
            <a:rect r="r" b="b" t="t" l="l"/>
            <a:pathLst>
              <a:path h="6409600" w="8057413">
                <a:moveTo>
                  <a:pt x="0" y="0"/>
                </a:moveTo>
                <a:lnTo>
                  <a:pt x="8057413" y="0"/>
                </a:lnTo>
                <a:lnTo>
                  <a:pt x="8057413" y="6409601"/>
                </a:lnTo>
                <a:lnTo>
                  <a:pt x="0" y="64096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320199" y="3806213"/>
            <a:ext cx="9939101" cy="2674573"/>
            <a:chOff x="0" y="0"/>
            <a:chExt cx="1032321" cy="27779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32321" cy="277793"/>
            </a:xfrm>
            <a:custGeom>
              <a:avLst/>
              <a:gdLst/>
              <a:ahLst/>
              <a:cxnLst/>
              <a:rect r="r" b="b" t="t" l="l"/>
              <a:pathLst>
                <a:path h="277793" w="1032321">
                  <a:moveTo>
                    <a:pt x="15214" y="0"/>
                  </a:moveTo>
                  <a:lnTo>
                    <a:pt x="1017107" y="0"/>
                  </a:lnTo>
                  <a:cubicBezTo>
                    <a:pt x="1021142" y="0"/>
                    <a:pt x="1025012" y="1603"/>
                    <a:pt x="1027865" y="4456"/>
                  </a:cubicBezTo>
                  <a:cubicBezTo>
                    <a:pt x="1030718" y="7309"/>
                    <a:pt x="1032321" y="11179"/>
                    <a:pt x="1032321" y="15214"/>
                  </a:cubicBezTo>
                  <a:lnTo>
                    <a:pt x="1032321" y="262580"/>
                  </a:lnTo>
                  <a:cubicBezTo>
                    <a:pt x="1032321" y="270982"/>
                    <a:pt x="1025509" y="277793"/>
                    <a:pt x="1017107" y="277793"/>
                  </a:cubicBezTo>
                  <a:lnTo>
                    <a:pt x="15214" y="277793"/>
                  </a:lnTo>
                  <a:cubicBezTo>
                    <a:pt x="6811" y="277793"/>
                    <a:pt x="0" y="270982"/>
                    <a:pt x="0" y="262580"/>
                  </a:cubicBezTo>
                  <a:lnTo>
                    <a:pt x="0" y="15214"/>
                  </a:lnTo>
                  <a:cubicBezTo>
                    <a:pt x="0" y="6811"/>
                    <a:pt x="6811" y="0"/>
                    <a:pt x="15214" y="0"/>
                  </a:cubicBezTo>
                  <a:close/>
                </a:path>
              </a:pathLst>
            </a:custGeom>
            <a:solidFill>
              <a:srgbClr val="7527B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32321" cy="3158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778695" y="4167188"/>
            <a:ext cx="9173036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11"/>
              </a:lnSpc>
            </a:pPr>
            <a:r>
              <a:rPr lang="en-US" sz="259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SVM</a:t>
            </a:r>
            <a:r>
              <a:rPr lang="en-US" sz="259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Results</a:t>
            </a:r>
          </a:p>
          <a:p>
            <a:pPr algn="just" marL="559802" indent="-279901" lvl="1">
              <a:lnSpc>
                <a:spcPts val="3111"/>
              </a:lnSpc>
              <a:buFont typeface="Arial"/>
              <a:buChar char="•"/>
            </a:pPr>
            <a:r>
              <a:rPr lang="en-US" sz="259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7 features: 74.29%</a:t>
            </a:r>
          </a:p>
          <a:p>
            <a:pPr algn="just" marL="559802" indent="-279901" lvl="1">
              <a:lnSpc>
                <a:spcPts val="3111"/>
              </a:lnSpc>
              <a:buFont typeface="Arial"/>
              <a:buChar char="•"/>
            </a:pPr>
            <a:r>
              <a:rPr lang="en-US" sz="259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8</a:t>
            </a:r>
            <a:r>
              <a:rPr lang="en-US" sz="259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features: 79.46%</a:t>
            </a:r>
          </a:p>
          <a:p>
            <a:pPr algn="just" marL="559802" indent="-279901" lvl="1">
              <a:lnSpc>
                <a:spcPts val="3111"/>
              </a:lnSpc>
              <a:buFont typeface="Arial"/>
              <a:buChar char="•"/>
            </a:pPr>
            <a:r>
              <a:rPr lang="en-US" sz="259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All features: 71.96%</a:t>
            </a:r>
          </a:p>
          <a:p>
            <a:pPr algn="just">
              <a:lnSpc>
                <a:spcPts val="3111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320199" y="1860268"/>
            <a:ext cx="10090028" cy="9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4"/>
              </a:lnSpc>
            </a:pPr>
            <a:r>
              <a:rPr lang="en-US" sz="7031" b="true">
                <a:solidFill>
                  <a:srgbClr val="044BD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Results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320199" y="6717521"/>
            <a:ext cx="9939101" cy="2674573"/>
            <a:chOff x="0" y="0"/>
            <a:chExt cx="1032321" cy="2777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32321" cy="277793"/>
            </a:xfrm>
            <a:custGeom>
              <a:avLst/>
              <a:gdLst/>
              <a:ahLst/>
              <a:cxnLst/>
              <a:rect r="r" b="b" t="t" l="l"/>
              <a:pathLst>
                <a:path h="277793" w="1032321">
                  <a:moveTo>
                    <a:pt x="15214" y="0"/>
                  </a:moveTo>
                  <a:lnTo>
                    <a:pt x="1017107" y="0"/>
                  </a:lnTo>
                  <a:cubicBezTo>
                    <a:pt x="1021142" y="0"/>
                    <a:pt x="1025012" y="1603"/>
                    <a:pt x="1027865" y="4456"/>
                  </a:cubicBezTo>
                  <a:cubicBezTo>
                    <a:pt x="1030718" y="7309"/>
                    <a:pt x="1032321" y="11179"/>
                    <a:pt x="1032321" y="15214"/>
                  </a:cubicBezTo>
                  <a:lnTo>
                    <a:pt x="1032321" y="262580"/>
                  </a:lnTo>
                  <a:cubicBezTo>
                    <a:pt x="1032321" y="270982"/>
                    <a:pt x="1025509" y="277793"/>
                    <a:pt x="1017107" y="277793"/>
                  </a:cubicBezTo>
                  <a:lnTo>
                    <a:pt x="15214" y="277793"/>
                  </a:lnTo>
                  <a:cubicBezTo>
                    <a:pt x="6811" y="277793"/>
                    <a:pt x="0" y="270982"/>
                    <a:pt x="0" y="262580"/>
                  </a:cubicBezTo>
                  <a:lnTo>
                    <a:pt x="0" y="15214"/>
                  </a:lnTo>
                  <a:cubicBezTo>
                    <a:pt x="0" y="6811"/>
                    <a:pt x="6811" y="0"/>
                    <a:pt x="15214" y="0"/>
                  </a:cubicBezTo>
                  <a:close/>
                </a:path>
              </a:pathLst>
            </a:custGeom>
            <a:solidFill>
              <a:srgbClr val="044BD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32321" cy="3158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703231" y="7078495"/>
            <a:ext cx="9173036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11"/>
              </a:lnSpc>
            </a:pPr>
            <a:r>
              <a:rPr lang="en-US" sz="259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XGB</a:t>
            </a:r>
            <a:r>
              <a:rPr lang="en-US" sz="259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oost Results</a:t>
            </a:r>
          </a:p>
          <a:p>
            <a:pPr algn="just" marL="559802" indent="-279901" lvl="1">
              <a:lnSpc>
                <a:spcPts val="3111"/>
              </a:lnSpc>
              <a:buFont typeface="Arial"/>
              <a:buChar char="•"/>
            </a:pPr>
            <a:r>
              <a:rPr lang="en-US" sz="259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7 features: 78.62%</a:t>
            </a:r>
          </a:p>
          <a:p>
            <a:pPr algn="just" marL="559802" indent="-279901" lvl="1">
              <a:lnSpc>
                <a:spcPts val="3111"/>
              </a:lnSpc>
              <a:buFont typeface="Arial"/>
              <a:buChar char="•"/>
            </a:pPr>
            <a:r>
              <a:rPr lang="en-US" sz="259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8</a:t>
            </a:r>
            <a:r>
              <a:rPr lang="en-US" sz="259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features: 88.21%</a:t>
            </a:r>
          </a:p>
          <a:p>
            <a:pPr algn="just" marL="559802" indent="-279901" lvl="1">
              <a:lnSpc>
                <a:spcPts val="3111"/>
              </a:lnSpc>
              <a:buFont typeface="Arial"/>
              <a:buChar char="•"/>
            </a:pPr>
            <a:r>
              <a:rPr lang="en-US" sz="259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All features: 95.58%</a:t>
            </a:r>
          </a:p>
          <a:p>
            <a:pPr algn="just">
              <a:lnSpc>
                <a:spcPts val="3111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27430"/>
            <a:ext cx="9535542" cy="10446240"/>
          </a:xfrm>
          <a:custGeom>
            <a:avLst/>
            <a:gdLst/>
            <a:ahLst/>
            <a:cxnLst/>
            <a:rect r="r" b="b" t="t" l="l"/>
            <a:pathLst>
              <a:path h="10446240" w="9535542">
                <a:moveTo>
                  <a:pt x="0" y="0"/>
                </a:moveTo>
                <a:lnTo>
                  <a:pt x="9535542" y="0"/>
                </a:lnTo>
                <a:lnTo>
                  <a:pt x="9535542" y="10446240"/>
                </a:lnTo>
                <a:lnTo>
                  <a:pt x="0" y="104462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61718">
            <a:off x="8971683" y="-3065850"/>
            <a:ext cx="7708068" cy="6131700"/>
          </a:xfrm>
          <a:custGeom>
            <a:avLst/>
            <a:gdLst/>
            <a:ahLst/>
            <a:cxnLst/>
            <a:rect r="r" b="b" t="t" l="l"/>
            <a:pathLst>
              <a:path h="6131700" w="7708068">
                <a:moveTo>
                  <a:pt x="0" y="0"/>
                </a:moveTo>
                <a:lnTo>
                  <a:pt x="7708068" y="0"/>
                </a:lnTo>
                <a:lnTo>
                  <a:pt x="7708068" y="6131700"/>
                </a:lnTo>
                <a:lnTo>
                  <a:pt x="0" y="6131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149276" y="3758851"/>
            <a:ext cx="10110024" cy="1878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52"/>
              </a:lnSpc>
            </a:pPr>
            <a:r>
              <a:rPr lang="en-US" sz="13414" b="true">
                <a:solidFill>
                  <a:srgbClr val="044BD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Questions?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2992565">
            <a:off x="11489392" y="7221150"/>
            <a:ext cx="7708068" cy="6131700"/>
          </a:xfrm>
          <a:custGeom>
            <a:avLst/>
            <a:gdLst/>
            <a:ahLst/>
            <a:cxnLst/>
            <a:rect r="r" b="b" t="t" l="l"/>
            <a:pathLst>
              <a:path h="6131700" w="7708068">
                <a:moveTo>
                  <a:pt x="0" y="0"/>
                </a:moveTo>
                <a:lnTo>
                  <a:pt x="7708068" y="0"/>
                </a:lnTo>
                <a:lnTo>
                  <a:pt x="7708068" y="6131700"/>
                </a:lnTo>
                <a:lnTo>
                  <a:pt x="0" y="6131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27430"/>
            <a:ext cx="9535542" cy="10446240"/>
          </a:xfrm>
          <a:custGeom>
            <a:avLst/>
            <a:gdLst/>
            <a:ahLst/>
            <a:cxnLst/>
            <a:rect r="r" b="b" t="t" l="l"/>
            <a:pathLst>
              <a:path h="10446240" w="9535542">
                <a:moveTo>
                  <a:pt x="0" y="0"/>
                </a:moveTo>
                <a:lnTo>
                  <a:pt x="9535542" y="0"/>
                </a:lnTo>
                <a:lnTo>
                  <a:pt x="9535542" y="10446240"/>
                </a:lnTo>
                <a:lnTo>
                  <a:pt x="0" y="104462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61718">
            <a:off x="8971683" y="-3065850"/>
            <a:ext cx="7708068" cy="6131700"/>
          </a:xfrm>
          <a:custGeom>
            <a:avLst/>
            <a:gdLst/>
            <a:ahLst/>
            <a:cxnLst/>
            <a:rect r="r" b="b" t="t" l="l"/>
            <a:pathLst>
              <a:path h="6131700" w="7708068">
                <a:moveTo>
                  <a:pt x="0" y="0"/>
                </a:moveTo>
                <a:lnTo>
                  <a:pt x="7708068" y="0"/>
                </a:lnTo>
                <a:lnTo>
                  <a:pt x="7708068" y="6131700"/>
                </a:lnTo>
                <a:lnTo>
                  <a:pt x="0" y="6131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149276" y="3758851"/>
            <a:ext cx="9595002" cy="1878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52"/>
              </a:lnSpc>
            </a:pPr>
            <a:r>
              <a:rPr lang="en-US" sz="13414" b="true">
                <a:solidFill>
                  <a:srgbClr val="044BD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Thank You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2992565">
            <a:off x="11489392" y="7221150"/>
            <a:ext cx="7708068" cy="6131700"/>
          </a:xfrm>
          <a:custGeom>
            <a:avLst/>
            <a:gdLst/>
            <a:ahLst/>
            <a:cxnLst/>
            <a:rect r="r" b="b" t="t" l="l"/>
            <a:pathLst>
              <a:path h="6131700" w="7708068">
                <a:moveTo>
                  <a:pt x="0" y="0"/>
                </a:moveTo>
                <a:lnTo>
                  <a:pt x="7708068" y="0"/>
                </a:lnTo>
                <a:lnTo>
                  <a:pt x="7708068" y="6131700"/>
                </a:lnTo>
                <a:lnTo>
                  <a:pt x="0" y="6131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DAHR-AiT_EI</dc:identifier>
  <dcterms:modified xsi:type="dcterms:W3CDTF">2011-08-01T06:04:30Z</dcterms:modified>
  <cp:revision>1</cp:revision>
  <dc:title>eligears eligenta</dc:title>
</cp:coreProperties>
</file>